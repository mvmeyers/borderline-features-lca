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"/>
  </p:notesMasterIdLst>
  <p:sldIdLst>
    <p:sldId id="256" r:id="rId2"/>
  </p:sldIdLst>
  <p:sldSz cx="43891200" cy="3291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22" d="100"/>
          <a:sy n="22" d="100"/>
        </p:scale>
        <p:origin x="1692" y="132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71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1pPr>
    <a:lvl2pPr marL="87782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2pPr>
    <a:lvl3pPr marL="175564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3pPr>
    <a:lvl4pPr marL="263347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4pPr>
    <a:lvl5pPr marL="3511296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5pPr>
    <a:lvl6pPr marL="438912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6pPr>
    <a:lvl7pPr marL="526694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7pPr>
    <a:lvl8pPr marL="614476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8pPr>
    <a:lvl9pPr marL="702259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vmeyers/Borderline-Features-LCA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38661" tIns="19330" rIns="38661" bIns="19330"/>
          <a:lstStyle/>
          <a:p>
            <a:r>
              <a:rPr lang="en-US" dirty="0"/>
              <a:t>OSF DOI: https://doi.org/10.17605/OSF.IO/P32DX</a:t>
            </a:r>
          </a:p>
          <a:p>
            <a:r>
              <a:rPr lang="en-US" dirty="0"/>
              <a:t>GitHub repository: </a:t>
            </a:r>
            <a:r>
              <a:rPr lang="en-US" dirty="0" err="1">
                <a:hlinkClick r:id="rId3"/>
              </a:rPr>
              <a:t>mvmeyers</a:t>
            </a:r>
            <a:r>
              <a:rPr lang="en-US" dirty="0">
                <a:hlinkClick r:id="rId3"/>
              </a:rPr>
              <a:t>/Borderline-Features-LCA: RISE 2026 - Summer Student Poster Day Supplementary Materials</a:t>
            </a:r>
            <a:endParaRPr lang="en-US" dirty="0"/>
          </a:p>
          <a:p>
            <a:endParaRPr lang="en-US" dirty="0"/>
          </a:p>
          <a:p>
            <a:r>
              <a:rPr lang="en-US" dirty="0"/>
              <a:t>Supplementary materials include code for the manual bias-adjusted three-step BCH, complete omnibus Wald </a:t>
            </a:r>
            <a:r>
              <a:rPr lang="en-US"/>
              <a:t>test results, </a:t>
            </a:r>
            <a:r>
              <a:rPr lang="en-US" dirty="0"/>
              <a:t>and an expanded Method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38661" tIns="19330" rIns="38661" bIns="19330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080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25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0020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011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9828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09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0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678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4661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6584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5890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35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5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03">
            <a:extLst>
              <a:ext uri="{FF2B5EF4-FFF2-40B4-BE49-F238E27FC236}">
                <a16:creationId xmlns:a16="http://schemas.microsoft.com/office/drawing/2014/main" id="{C49254D2-867F-ABC2-448D-9093C48C9E3C}"/>
              </a:ext>
            </a:extLst>
          </p:cNvPr>
          <p:cNvSpPr/>
          <p:nvPr/>
        </p:nvSpPr>
        <p:spPr>
          <a:xfrm>
            <a:off x="31150360" y="27173789"/>
            <a:ext cx="12333839" cy="3046988"/>
          </a:xfrm>
          <a:prstGeom prst="roundRect">
            <a:avLst>
              <a:gd name="adj" fmla="val 4964"/>
            </a:avLst>
          </a:prstGeom>
          <a:solidFill>
            <a:srgbClr val="EAF3FB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3">
            <a:extLst>
              <a:ext uri="{FF2B5EF4-FFF2-40B4-BE49-F238E27FC236}">
                <a16:creationId xmlns:a16="http://schemas.microsoft.com/office/drawing/2014/main" id="{624F32D6-15EF-6688-047F-8690604F88F4}"/>
              </a:ext>
            </a:extLst>
          </p:cNvPr>
          <p:cNvSpPr/>
          <p:nvPr/>
        </p:nvSpPr>
        <p:spPr>
          <a:xfrm>
            <a:off x="436115" y="7544884"/>
            <a:ext cx="10725876" cy="1650022"/>
          </a:xfrm>
          <a:prstGeom prst="roundRect">
            <a:avLst>
              <a:gd name="adj" fmla="val 4964"/>
            </a:avLst>
          </a:prstGeom>
          <a:solidFill>
            <a:srgbClr val="EAF3FB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3920676"/>
            <a:ext cx="42062400" cy="46736"/>
          </a:xfrm>
          <a:prstGeom prst="rect">
            <a:avLst/>
          </a:prstGeom>
          <a:solidFill>
            <a:srgbClr val="EAF0F6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4" name="Text 2"/>
          <p:cNvSpPr/>
          <p:nvPr/>
        </p:nvSpPr>
        <p:spPr>
          <a:xfrm>
            <a:off x="113866" y="309452"/>
            <a:ext cx="32804534" cy="1537064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pPr>
              <a:lnSpc>
                <a:spcPct val="80000"/>
              </a:lnSpc>
              <a:tabLst>
                <a:tab pos="31673800" algn="l"/>
              </a:tabLst>
            </a:pPr>
            <a:r>
              <a:rPr lang="en-US" sz="9600" b="1" dirty="0"/>
              <a:t>Latent Classes of Borderline Personality Features Differentiate Self-Harm in Youth with Elevated Symptoms of Mania</a:t>
            </a:r>
            <a:endParaRPr lang="en-US" sz="9200" b="1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35390759" y="2134647"/>
            <a:ext cx="5472686" cy="16984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48521" y="4061216"/>
            <a:ext cx="11324693" cy="1033968"/>
          </a:xfrm>
          <a:prstGeom prst="roundRect">
            <a:avLst>
              <a:gd name="adj" fmla="val 14634"/>
            </a:avLst>
          </a:prstGeom>
          <a:solidFill>
            <a:srgbClr val="13294B"/>
          </a:solidFill>
          <a:ln/>
        </p:spPr>
        <p:txBody>
          <a:bodyPr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  <p:sp>
        <p:nvSpPr>
          <p:cNvPr id="19" name="Shape 14"/>
          <p:cNvSpPr/>
          <p:nvPr/>
        </p:nvSpPr>
        <p:spPr>
          <a:xfrm>
            <a:off x="339918" y="5309182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25" name="Text 20"/>
          <p:cNvSpPr/>
          <p:nvPr/>
        </p:nvSpPr>
        <p:spPr>
          <a:xfrm>
            <a:off x="605424" y="7596955"/>
            <a:ext cx="10412163" cy="1549169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pPr>
              <a:lnSpc>
                <a:spcPct val="91981"/>
              </a:lnSpc>
            </a:pPr>
            <a:r>
              <a:rPr lang="en-US" sz="3600" dirty="0">
                <a:ea typeface="Source Sans 3" pitchFamily="34" charset="-122"/>
                <a:cs typeface="Source Sans 3" pitchFamily="34" charset="-120"/>
              </a:rPr>
              <a:t>However, whether </a:t>
            </a:r>
            <a:r>
              <a:rPr lang="en-US" sz="3600" b="1" dirty="0">
                <a:ea typeface="Source Sans 3" pitchFamily="34" charset="-122"/>
                <a:cs typeface="Source Sans 3" pitchFamily="34" charset="-120"/>
              </a:rPr>
              <a:t>BPFs </a:t>
            </a:r>
            <a:r>
              <a:rPr lang="en-US" sz="3600" b="1" dirty="0"/>
              <a:t>differentiate clinical subtypes of youth at risk for bipolar disorder</a:t>
            </a:r>
            <a:r>
              <a:rPr lang="en-US" sz="3600" dirty="0"/>
              <a:t> (elevated manic symptoms)</a:t>
            </a:r>
            <a:r>
              <a:rPr lang="en-US" sz="3600" b="1" dirty="0"/>
              <a:t> </a:t>
            </a:r>
            <a:r>
              <a:rPr lang="en-US" sz="3600" dirty="0"/>
              <a:t>remains unknown.</a:t>
            </a:r>
            <a:endParaRPr lang="en-US" sz="3600" b="1" dirty="0"/>
          </a:p>
        </p:txBody>
      </p:sp>
      <p:sp>
        <p:nvSpPr>
          <p:cNvPr id="31" name="Shape 26"/>
          <p:cNvSpPr/>
          <p:nvPr/>
        </p:nvSpPr>
        <p:spPr>
          <a:xfrm>
            <a:off x="331660" y="10473416"/>
            <a:ext cx="736092" cy="736092"/>
          </a:xfrm>
          <a:prstGeom prst="ellipse">
            <a:avLst/>
          </a:prstGeom>
          <a:solidFill>
            <a:srgbClr val="EAF3FB"/>
          </a:solidFill>
          <a:ln/>
        </p:spPr>
        <p:txBody>
          <a:bodyPr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34" name="Shape 29"/>
          <p:cNvSpPr/>
          <p:nvPr/>
        </p:nvSpPr>
        <p:spPr>
          <a:xfrm>
            <a:off x="331660" y="11594988"/>
            <a:ext cx="736092" cy="736092"/>
          </a:xfrm>
          <a:prstGeom prst="ellipse">
            <a:avLst/>
          </a:prstGeom>
          <a:solidFill>
            <a:srgbClr val="EAF3FB"/>
          </a:solidFill>
          <a:ln/>
        </p:spPr>
        <p:txBody>
          <a:bodyPr/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48" name="Shape 43"/>
          <p:cNvSpPr/>
          <p:nvPr/>
        </p:nvSpPr>
        <p:spPr>
          <a:xfrm>
            <a:off x="11686684" y="4083116"/>
            <a:ext cx="19107424" cy="28776739"/>
          </a:xfrm>
          <a:prstGeom prst="roundRect">
            <a:avLst>
              <a:gd name="adj" fmla="val 1029"/>
            </a:avLst>
          </a:prstGeom>
          <a:solidFill>
            <a:srgbClr val="EAF3FB"/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sz="6359" dirty="0"/>
          </a:p>
        </p:txBody>
      </p:sp>
      <p:sp>
        <p:nvSpPr>
          <p:cNvPr id="51" name="Text 46"/>
          <p:cNvSpPr/>
          <p:nvPr/>
        </p:nvSpPr>
        <p:spPr>
          <a:xfrm>
            <a:off x="12449975" y="5124457"/>
            <a:ext cx="17580842" cy="8010489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pPr algn="ctr"/>
            <a:r>
              <a:rPr lang="en-US" sz="10200" dirty="0"/>
              <a:t>Identifying </a:t>
            </a:r>
            <a:r>
              <a:rPr lang="en-US" sz="10200" b="1" dirty="0"/>
              <a:t>borderline personality features </a:t>
            </a:r>
            <a:r>
              <a:rPr lang="en-US" sz="10200" dirty="0"/>
              <a:t>may inform </a:t>
            </a:r>
            <a:r>
              <a:rPr lang="en-US" sz="10200" b="1" dirty="0">
                <a:solidFill>
                  <a:srgbClr val="2F6FA6"/>
                </a:solidFill>
              </a:rPr>
              <a:t>self-harm risk assessment</a:t>
            </a:r>
            <a:r>
              <a:rPr lang="en-US" sz="10200" dirty="0">
                <a:solidFill>
                  <a:srgbClr val="2F6FA6"/>
                </a:solidFill>
              </a:rPr>
              <a:t> </a:t>
            </a:r>
            <a:r>
              <a:rPr lang="en-US" sz="10200" dirty="0"/>
              <a:t>for youth with elevated manic symptoms.</a:t>
            </a:r>
            <a:endParaRPr lang="en-US" sz="10200" dirty="0">
              <a:solidFill>
                <a:srgbClr val="2F6FA6"/>
              </a:solidFill>
            </a:endParaRPr>
          </a:p>
          <a:p>
            <a:pPr algn="ctr"/>
            <a:endParaRPr lang="en-US" sz="10000" dirty="0"/>
          </a:p>
        </p:txBody>
      </p:sp>
      <p:sp>
        <p:nvSpPr>
          <p:cNvPr id="64" name="Text 59"/>
          <p:cNvSpPr/>
          <p:nvPr/>
        </p:nvSpPr>
        <p:spPr>
          <a:xfrm>
            <a:off x="12103401" y="29962297"/>
            <a:ext cx="18338966" cy="1801924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r>
              <a:rPr lang="en-US" sz="3600" b="1" dirty="0">
                <a:ea typeface="Archivo" pitchFamily="34" charset="-122"/>
                <a:cs typeface="Archivo" pitchFamily="34" charset="-120"/>
              </a:rPr>
              <a:t>FIGURE 1. </a:t>
            </a:r>
            <a:r>
              <a:rPr lang="en-US" sz="3600" i="1" dirty="0"/>
              <a:t>Item endorsement profiles for the 5-class model (N = 435).</a:t>
            </a:r>
          </a:p>
          <a:p>
            <a:r>
              <a:rPr lang="en-US" sz="3600" i="1" dirty="0"/>
              <a:t>C1 floors all items; C2 displays elevated abandonment fears/unstable relationships, flooring on identity items; C3 elevated on identity/goal items with minimal interpersonal component; C4 shows moderate relational/self-image disturbance plus stress-related dissociation/paranoia; C5 endorses most SCID-II BPD items.</a:t>
            </a:r>
          </a:p>
        </p:txBody>
      </p:sp>
      <p:sp>
        <p:nvSpPr>
          <p:cNvPr id="123" name="Shape 9">
            <a:extLst>
              <a:ext uri="{FF2B5EF4-FFF2-40B4-BE49-F238E27FC236}">
                <a16:creationId xmlns:a16="http://schemas.microsoft.com/office/drawing/2014/main" id="{E5B3430A-EC26-6D55-1489-6F3064278646}"/>
              </a:ext>
            </a:extLst>
          </p:cNvPr>
          <p:cNvSpPr/>
          <p:nvPr/>
        </p:nvSpPr>
        <p:spPr>
          <a:xfrm>
            <a:off x="148521" y="9356035"/>
            <a:ext cx="11324693" cy="1033968"/>
          </a:xfrm>
          <a:prstGeom prst="roundRect">
            <a:avLst>
              <a:gd name="adj" fmla="val 14634"/>
            </a:avLst>
          </a:prstGeom>
          <a:solidFill>
            <a:srgbClr val="13294B"/>
          </a:solidFill>
          <a:ln/>
        </p:spPr>
        <p:txBody>
          <a:bodyPr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j-lt"/>
              </a:rPr>
              <a:t>OBJECTIVES</a:t>
            </a:r>
          </a:p>
        </p:txBody>
      </p:sp>
      <p:sp>
        <p:nvSpPr>
          <p:cNvPr id="124" name="Shape 9">
            <a:extLst>
              <a:ext uri="{FF2B5EF4-FFF2-40B4-BE49-F238E27FC236}">
                <a16:creationId xmlns:a16="http://schemas.microsoft.com/office/drawing/2014/main" id="{72C232BF-429E-3C74-1E05-67C51259E7D6}"/>
              </a:ext>
            </a:extLst>
          </p:cNvPr>
          <p:cNvSpPr/>
          <p:nvPr/>
        </p:nvSpPr>
        <p:spPr>
          <a:xfrm>
            <a:off x="179390" y="12607219"/>
            <a:ext cx="11293824" cy="1033968"/>
          </a:xfrm>
          <a:prstGeom prst="roundRect">
            <a:avLst>
              <a:gd name="adj" fmla="val 14634"/>
            </a:avLst>
          </a:prstGeom>
          <a:solidFill>
            <a:srgbClr val="13294B"/>
          </a:solidFill>
          <a:ln/>
        </p:spPr>
        <p:txBody>
          <a:bodyPr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j-lt"/>
              </a:rPr>
              <a:t>METHOD</a:t>
            </a:r>
          </a:p>
        </p:txBody>
      </p:sp>
      <p:sp>
        <p:nvSpPr>
          <p:cNvPr id="125" name="Shape 9">
            <a:extLst>
              <a:ext uri="{FF2B5EF4-FFF2-40B4-BE49-F238E27FC236}">
                <a16:creationId xmlns:a16="http://schemas.microsoft.com/office/drawing/2014/main" id="{A7BE0BF1-A5AA-198D-344C-96F92AE0F1CC}"/>
              </a:ext>
            </a:extLst>
          </p:cNvPr>
          <p:cNvSpPr/>
          <p:nvPr/>
        </p:nvSpPr>
        <p:spPr>
          <a:xfrm>
            <a:off x="31039010" y="4061804"/>
            <a:ext cx="12684821" cy="1067792"/>
          </a:xfrm>
          <a:prstGeom prst="roundRect">
            <a:avLst>
              <a:gd name="adj" fmla="val 14634"/>
            </a:avLst>
          </a:prstGeom>
          <a:solidFill>
            <a:srgbClr val="13294B"/>
          </a:solidFill>
          <a:ln/>
        </p:spPr>
        <p:txBody>
          <a:bodyPr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j-lt"/>
              </a:rPr>
              <a:t>RESULTS</a:t>
            </a:r>
          </a:p>
        </p:txBody>
      </p:sp>
      <p:sp>
        <p:nvSpPr>
          <p:cNvPr id="126" name="Shape 9">
            <a:extLst>
              <a:ext uri="{FF2B5EF4-FFF2-40B4-BE49-F238E27FC236}">
                <a16:creationId xmlns:a16="http://schemas.microsoft.com/office/drawing/2014/main" id="{DAC8E692-00A7-1304-6378-2730278DA106}"/>
              </a:ext>
            </a:extLst>
          </p:cNvPr>
          <p:cNvSpPr/>
          <p:nvPr/>
        </p:nvSpPr>
        <p:spPr>
          <a:xfrm>
            <a:off x="31007577" y="26021365"/>
            <a:ext cx="12716253" cy="1033968"/>
          </a:xfrm>
          <a:prstGeom prst="roundRect">
            <a:avLst>
              <a:gd name="adj" fmla="val 14634"/>
            </a:avLst>
          </a:prstGeom>
          <a:solidFill>
            <a:srgbClr val="13294B"/>
          </a:solidFill>
          <a:ln/>
        </p:spPr>
        <p:txBody>
          <a:bodyPr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j-lt"/>
              </a:rPr>
              <a:t>DISCUSSION</a:t>
            </a: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331C705-CCF6-5118-5AA8-0BE60B973E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462"/>
          <a:stretch>
            <a:fillRect/>
          </a:stretch>
        </p:blipFill>
        <p:spPr>
          <a:xfrm>
            <a:off x="11964823" y="13663398"/>
            <a:ext cx="18567439" cy="1079762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174A27-3FF3-D735-B7A4-C134F652E0A4}"/>
              </a:ext>
            </a:extLst>
          </p:cNvPr>
          <p:cNvSpPr txBox="1"/>
          <p:nvPr/>
        </p:nvSpPr>
        <p:spPr>
          <a:xfrm>
            <a:off x="1217966" y="10425659"/>
            <a:ext cx="97895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cs typeface="Arial" panose="020B0604020202020204" pitchFamily="34" charset="0"/>
              </a:rPr>
              <a:t>Evaluate how assessment of </a:t>
            </a:r>
            <a:r>
              <a:rPr lang="en-US" sz="3200" b="1" dirty="0">
                <a:cs typeface="Arial" panose="020B0604020202020204" pitchFamily="34" charset="0"/>
              </a:rPr>
              <a:t>BPFs </a:t>
            </a:r>
            <a:r>
              <a:rPr lang="en-US" sz="3200" dirty="0">
                <a:cs typeface="Arial" panose="020B0604020202020204" pitchFamily="34" charset="0"/>
              </a:rPr>
              <a:t>support</a:t>
            </a:r>
            <a:r>
              <a:rPr lang="en-US" sz="3200" b="1" dirty="0">
                <a:cs typeface="Arial" panose="020B0604020202020204" pitchFamily="34" charset="0"/>
              </a:rPr>
              <a:t> </a:t>
            </a:r>
            <a:r>
              <a:rPr lang="en-US" sz="3200" dirty="0">
                <a:cs typeface="Arial" panose="020B0604020202020204" pitchFamily="34" charset="0"/>
              </a:rPr>
              <a:t>transdiagnostic approaches for youth with elevated manic symptoms.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18BDA8-9C2E-0A37-C318-8378163B742D}"/>
              </a:ext>
            </a:extLst>
          </p:cNvPr>
          <p:cNvSpPr txBox="1"/>
          <p:nvPr/>
        </p:nvSpPr>
        <p:spPr>
          <a:xfrm>
            <a:off x="1203112" y="11479328"/>
            <a:ext cx="97561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cs typeface="Arial" panose="020B0604020202020204" pitchFamily="34" charset="0"/>
              </a:rPr>
              <a:t>Expand </a:t>
            </a:r>
            <a:r>
              <a:rPr lang="en-US" sz="3200" b="1" dirty="0">
                <a:cs typeface="Arial" panose="020B0604020202020204" pitchFamily="34" charset="0"/>
              </a:rPr>
              <a:t>borderline personality pathology </a:t>
            </a:r>
            <a:r>
              <a:rPr lang="en-US" sz="3200" dirty="0">
                <a:cs typeface="Arial" panose="020B0604020202020204" pitchFamily="34" charset="0"/>
              </a:rPr>
              <a:t>beyond a single, undifferentiated risk factor.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92DDF-1FBC-5287-28AB-019035139D06}"/>
              </a:ext>
            </a:extLst>
          </p:cNvPr>
          <p:cNvSpPr txBox="1"/>
          <p:nvPr/>
        </p:nvSpPr>
        <p:spPr>
          <a:xfrm>
            <a:off x="70324" y="2582711"/>
            <a:ext cx="22407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Margaret V. Meyers</a:t>
            </a:r>
            <a:r>
              <a:rPr lang="en-US" sz="4000" b="1" baseline="30000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1,2</a:t>
            </a:r>
            <a:r>
              <a:rPr lang="en-US" sz="4000" b="1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, Kevin G. Stephenson, Ph.D.</a:t>
            </a:r>
            <a:r>
              <a:rPr lang="en-US" sz="4000" b="1" baseline="30000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1,3</a:t>
            </a:r>
            <a:r>
              <a:rPr lang="en-US" sz="4000" b="1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, Cristian </a:t>
            </a:r>
            <a:r>
              <a:rPr lang="en-US" sz="4000" b="1" dirty="0" err="1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Alcaino</a:t>
            </a:r>
            <a:r>
              <a:rPr lang="en-US" sz="4000" b="1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, Ph.D.</a:t>
            </a:r>
            <a:r>
              <a:rPr lang="en-US" sz="4000" b="1" baseline="30000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1</a:t>
            </a:r>
            <a:r>
              <a:rPr lang="en-US" sz="4000" b="1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, Eric A. Youngstrom, Ph.D.</a:t>
            </a:r>
            <a:r>
              <a:rPr lang="en-US" sz="4000" b="1" baseline="30000" dirty="0">
                <a:solidFill>
                  <a:srgbClr val="1A2A44"/>
                </a:solidFill>
                <a:ea typeface="Source Sans 3" pitchFamily="34" charset="-122"/>
                <a:cs typeface="Source Sans 3" pitchFamily="34" charset="-120"/>
              </a:rPr>
              <a:t>1,4</a:t>
            </a:r>
            <a:endParaRPr lang="en-US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F88395-741A-E697-B3D0-3BDD45EA7599}"/>
              </a:ext>
            </a:extLst>
          </p:cNvPr>
          <p:cNvSpPr txBox="1"/>
          <p:nvPr/>
        </p:nvSpPr>
        <p:spPr>
          <a:xfrm>
            <a:off x="50550" y="3234021"/>
            <a:ext cx="3108030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30000" dirty="0">
                <a:ea typeface="Source Sans 3" pitchFamily="34" charset="-122"/>
                <a:cs typeface="Source Sans 3" pitchFamily="34" charset="-120"/>
              </a:rPr>
              <a:t>1</a:t>
            </a:r>
            <a:r>
              <a:rPr lang="en-US" sz="2800" dirty="0">
                <a:ea typeface="Source Sans 3" pitchFamily="34" charset="-122"/>
                <a:cs typeface="Source Sans 3" pitchFamily="34" charset="-120"/>
              </a:rPr>
              <a:t>The Institute for Mental and Behavioral Health Research, Nationwide Children's Hospital; </a:t>
            </a:r>
            <a:r>
              <a:rPr lang="en-US" sz="2800" baseline="30000" dirty="0">
                <a:ea typeface="Source Sans 3" pitchFamily="34" charset="-122"/>
                <a:cs typeface="Source Sans 3" pitchFamily="34" charset="-120"/>
              </a:rPr>
              <a:t>2</a:t>
            </a:r>
            <a:r>
              <a:rPr lang="en-US" sz="2800" dirty="0">
                <a:ea typeface="Source Sans 3" pitchFamily="34" charset="-122"/>
                <a:cs typeface="Source Sans 3" pitchFamily="34" charset="-120"/>
              </a:rPr>
              <a:t>University of North Carolina at Chapel Hill; </a:t>
            </a:r>
            <a:r>
              <a:rPr lang="en-US" sz="2800" baseline="30000" dirty="0">
                <a:ea typeface="Source Sans 3" pitchFamily="34" charset="-122"/>
                <a:cs typeface="Source Sans 3" pitchFamily="34" charset="-120"/>
              </a:rPr>
              <a:t>3</a:t>
            </a:r>
            <a:r>
              <a:rPr lang="en-US" sz="2800" dirty="0">
                <a:ea typeface="Source Sans 3" pitchFamily="34" charset="-122"/>
                <a:cs typeface="Source Sans 3" pitchFamily="34" charset="-120"/>
              </a:rPr>
              <a:t>Brigham Young University;</a:t>
            </a:r>
            <a:r>
              <a:rPr lang="en-US" sz="2800" baseline="30000" dirty="0">
                <a:ea typeface="Source Sans 3" pitchFamily="34" charset="-122"/>
                <a:cs typeface="Source Sans 3" pitchFamily="34" charset="-120"/>
              </a:rPr>
              <a:t> 4</a:t>
            </a:r>
            <a:r>
              <a:rPr lang="en-US" sz="2800" dirty="0">
                <a:ea typeface="Source Sans 3" pitchFamily="34" charset="-122"/>
                <a:cs typeface="Source Sans 3" pitchFamily="34" charset="-120"/>
              </a:rPr>
              <a:t>Department of Psychiatry, The Ohio State University</a:t>
            </a:r>
            <a:endParaRPr lang="en-US" sz="2800" dirty="0"/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85FCE-8622-DCDD-B610-D3EB2977C8DE}"/>
              </a:ext>
            </a:extLst>
          </p:cNvPr>
          <p:cNvSpPr txBox="1"/>
          <p:nvPr/>
        </p:nvSpPr>
        <p:spPr>
          <a:xfrm>
            <a:off x="656374" y="5154573"/>
            <a:ext cx="10267019" cy="1451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2000"/>
              </a:lnSpc>
            </a:pPr>
            <a:r>
              <a:rPr lang="en-US" sz="3200" dirty="0">
                <a:ea typeface="Source Sans 3" pitchFamily="34" charset="-122"/>
                <a:cs typeface="Source Sans 3" pitchFamily="34" charset="-120"/>
              </a:rPr>
              <a:t>Borderline personality features (BPFs), such as </a:t>
            </a:r>
            <a:r>
              <a:rPr lang="en-US" sz="3200" b="1" dirty="0">
                <a:ea typeface="Source Sans 3" pitchFamily="34" charset="-122"/>
                <a:cs typeface="Source Sans 3" pitchFamily="34" charset="-120"/>
              </a:rPr>
              <a:t>identity disturbance </a:t>
            </a:r>
            <a:r>
              <a:rPr lang="en-US" sz="3200" dirty="0">
                <a:ea typeface="Source Sans 3" pitchFamily="34" charset="-122"/>
                <a:cs typeface="Source Sans 3" pitchFamily="34" charset="-120"/>
              </a:rPr>
              <a:t>and </a:t>
            </a:r>
            <a:r>
              <a:rPr lang="en-US" sz="3200" b="1" dirty="0">
                <a:ea typeface="Source Sans 3" pitchFamily="34" charset="-122"/>
                <a:cs typeface="Source Sans 3" pitchFamily="34" charset="-120"/>
              </a:rPr>
              <a:t>unstable interpersonal relationships</a:t>
            </a:r>
            <a:r>
              <a:rPr lang="en-US" sz="3200" dirty="0"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3200" b="1" dirty="0"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3200" dirty="0">
                <a:ea typeface="Source Sans 3" pitchFamily="34" charset="-122"/>
                <a:cs typeface="Source Sans 3" pitchFamily="34" charset="-120"/>
              </a:rPr>
              <a:t>increase risk of suicidal behavior in youth.</a:t>
            </a:r>
            <a:r>
              <a:rPr lang="en-US" sz="3200" baseline="30000" dirty="0">
                <a:ea typeface="Source Sans 3" pitchFamily="34" charset="-122"/>
                <a:cs typeface="Source Sans 3" pitchFamily="34" charset="-120"/>
              </a:rPr>
              <a:t>1</a:t>
            </a:r>
            <a:endParaRPr lang="en-US" sz="32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A1EF7C74-5DE1-76B1-52F2-DBDA16667CAE}"/>
              </a:ext>
            </a:extLst>
          </p:cNvPr>
          <p:cNvSpPr/>
          <p:nvPr/>
        </p:nvSpPr>
        <p:spPr>
          <a:xfrm>
            <a:off x="656374" y="6530168"/>
            <a:ext cx="10693566" cy="1108570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 dirty="0">
                <a:ea typeface="Source Sans 3" pitchFamily="34" charset="-122"/>
                <a:cs typeface="Arial" panose="020B0604020202020204" pitchFamily="34" charset="0"/>
              </a:rPr>
              <a:t>Comorbid BPFs independently contribute to suicidality in individuals with bipolar disorder.</a:t>
            </a:r>
            <a:r>
              <a:rPr lang="en-US" sz="3200" baseline="30000" dirty="0">
                <a:ea typeface="Source Sans 3" pitchFamily="34" charset="-122"/>
                <a:cs typeface="Source Sans 3" pitchFamily="34" charset="-120"/>
              </a:rPr>
              <a:t>2</a:t>
            </a:r>
            <a:endParaRPr lang="en-US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FF8673-13B4-D6F0-9C6F-8AF11FC6394E}"/>
              </a:ext>
            </a:extLst>
          </p:cNvPr>
          <p:cNvSpPr txBox="1"/>
          <p:nvPr/>
        </p:nvSpPr>
        <p:spPr>
          <a:xfrm>
            <a:off x="271595" y="13656165"/>
            <a:ext cx="1104626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F6FA6"/>
                </a:solidFill>
                <a:ea typeface="Source Sans 3"/>
                <a:cs typeface="Arial" panose="020B0604020202020204" pitchFamily="34" charset="0"/>
              </a:rPr>
              <a:t>Sample.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Youth (</a:t>
            </a:r>
            <a:r>
              <a:rPr lang="en-US" sz="3200" i="1" dirty="0">
                <a:ea typeface="Source Sans 3"/>
                <a:cs typeface="Arial" panose="020B0604020202020204" pitchFamily="34" charset="0"/>
              </a:rPr>
              <a:t>N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= 435; 68% male, 32% female) recruited from outpatient clinics were enrolled for elevated manic symptoms.</a:t>
            </a:r>
          </a:p>
          <a:p>
            <a:r>
              <a:rPr lang="en-US" sz="3200" b="1" dirty="0">
                <a:solidFill>
                  <a:srgbClr val="2F6FA6"/>
                </a:solidFill>
                <a:ea typeface="Source Sans 3"/>
                <a:cs typeface="Arial" panose="020B0604020202020204" pitchFamily="34" charset="0"/>
              </a:rPr>
              <a:t>Indicators</a:t>
            </a:r>
            <a:r>
              <a:rPr lang="en-US" sz="3200" b="1" dirty="0">
                <a:ea typeface="Source Sans 3"/>
                <a:cs typeface="Arial" panose="020B0604020202020204" pitchFamily="34" charset="0"/>
              </a:rPr>
              <a:t>. 8 SCID-II BPD identity disturbance and relational instability items;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 latent class analysis run with </a:t>
            </a:r>
            <a:r>
              <a:rPr lang="en-US" sz="3200" dirty="0" err="1">
                <a:ea typeface="Source Sans 3"/>
                <a:cs typeface="Arial" panose="020B0604020202020204" pitchFamily="34" charset="0"/>
              </a:rPr>
              <a:t>poLCA</a:t>
            </a:r>
            <a:r>
              <a:rPr lang="en-US" sz="3200" i="1" dirty="0">
                <a:ea typeface="Source Sans 3"/>
                <a:cs typeface="Arial" panose="020B0604020202020204" pitchFamily="34" charset="0"/>
              </a:rPr>
              <a:t>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R package.</a:t>
            </a:r>
            <a:r>
              <a:rPr lang="en-US" sz="3200" baseline="30000" dirty="0">
                <a:ea typeface="Source Sans 3" pitchFamily="34" charset="-122"/>
                <a:cs typeface="Source Sans 3" pitchFamily="34" charset="-120"/>
              </a:rPr>
              <a:t>3</a:t>
            </a:r>
            <a:endParaRPr lang="en-US" sz="3200" dirty="0">
              <a:ea typeface="Source Sans 3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rgbClr val="2F6FA6"/>
                </a:solidFill>
                <a:ea typeface="Source Sans 3"/>
                <a:cs typeface="Arial" panose="020B0604020202020204" pitchFamily="34" charset="0"/>
              </a:rPr>
              <a:t>Enumeration.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Fit for 1 to 6 class solutions was compared.</a:t>
            </a:r>
            <a:endParaRPr lang="en-US" sz="3200" i="1" dirty="0">
              <a:ea typeface="Source Sans 3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rgbClr val="2F6FA6"/>
                </a:solidFill>
                <a:ea typeface="Source Sans 3"/>
                <a:cs typeface="Arial" panose="020B0604020202020204" pitchFamily="34" charset="0"/>
              </a:rPr>
              <a:t>Class to validator differences. </a:t>
            </a:r>
            <a:r>
              <a:rPr lang="en-US" sz="3200" b="1" dirty="0">
                <a:ea typeface="Source Sans 3"/>
                <a:cs typeface="Arial" panose="020B0604020202020204" pitchFamily="34" charset="0"/>
              </a:rPr>
              <a:t>Manual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 </a:t>
            </a:r>
            <a:r>
              <a:rPr lang="en-US" sz="3200" b="1" dirty="0">
                <a:ea typeface="Source Sans 3"/>
                <a:cs typeface="Arial" panose="020B0604020202020204" pitchFamily="34" charset="0"/>
              </a:rPr>
              <a:t>bias-adjusted three-step (BCH)</a:t>
            </a:r>
            <a:r>
              <a:rPr lang="en-US" sz="3200" b="1" baseline="30000" dirty="0">
                <a:ea typeface="Source Sans 3" pitchFamily="34" charset="-122"/>
                <a:cs typeface="Arial" panose="020B0604020202020204" pitchFamily="34" charset="0"/>
              </a:rPr>
              <a:t>4,5</a:t>
            </a:r>
            <a:r>
              <a:rPr lang="en-US" sz="3200" b="1" dirty="0">
                <a:ea typeface="Source Sans 3"/>
                <a:cs typeface="Arial" panose="020B0604020202020204" pitchFamily="34" charset="0"/>
              </a:rPr>
              <a:t>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was calculated after fitting the 5-class model (</a:t>
            </a:r>
            <a:r>
              <a:rPr lang="en-US" sz="3200" i="1" dirty="0">
                <a:ea typeface="Source Sans 3"/>
                <a:cs typeface="Arial" panose="020B0604020202020204" pitchFamily="34" charset="0"/>
              </a:rPr>
              <a:t>K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 = 5) using validators of trait aggression, impulsivity, irritability, interpersonal functioning, global social adjustment, and state mania and depression.</a:t>
            </a:r>
          </a:p>
        </p:txBody>
      </p:sp>
      <p:pic>
        <p:nvPicPr>
          <p:cNvPr id="1026" name="Picture 2" descr="BYU Logo - LogoDix">
            <a:extLst>
              <a:ext uri="{FF2B5EF4-FFF2-40B4-BE49-F238E27FC236}">
                <a16:creationId xmlns:a16="http://schemas.microsoft.com/office/drawing/2014/main" id="{637A9AEA-9F2D-60F1-EAF7-BF783F97E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3766" y="2421991"/>
            <a:ext cx="2192140" cy="142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07E2CCE-89D0-113A-6B9C-4E23C829E4CA}"/>
              </a:ext>
            </a:extLst>
          </p:cNvPr>
          <p:cNvSpPr txBox="1"/>
          <p:nvPr/>
        </p:nvSpPr>
        <p:spPr>
          <a:xfrm>
            <a:off x="31010852" y="30306241"/>
            <a:ext cx="129934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F6FA6"/>
                </a:solidFill>
                <a:ea typeface="Source Sans 3"/>
                <a:cs typeface="Arial" panose="020B0604020202020204" pitchFamily="34" charset="0"/>
              </a:rPr>
              <a:t>Limitations.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Validators are concurrent and do not show prediction of self-harm outcomes.</a:t>
            </a:r>
          </a:p>
          <a:p>
            <a:r>
              <a:rPr lang="en-US" sz="3200" b="1" dirty="0">
                <a:solidFill>
                  <a:srgbClr val="2F6FA6"/>
                </a:solidFill>
                <a:ea typeface="Source Sans 3"/>
                <a:cs typeface="Arial" panose="020B0604020202020204" pitchFamily="34" charset="0"/>
              </a:rPr>
              <a:t>Future Directions.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Further work should employ prospective panels to evaluate whether BPFs carry clinical information about risk of suicidal behavior that concurrent mood state alone may not.</a:t>
            </a:r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00F7DC27-E532-C2BD-CE63-A6B61C345DB2}"/>
              </a:ext>
            </a:extLst>
          </p:cNvPr>
          <p:cNvSpPr/>
          <p:nvPr/>
        </p:nvSpPr>
        <p:spPr>
          <a:xfrm>
            <a:off x="148521" y="21046333"/>
            <a:ext cx="11324692" cy="1033968"/>
          </a:xfrm>
          <a:prstGeom prst="roundRect">
            <a:avLst>
              <a:gd name="adj" fmla="val 14634"/>
            </a:avLst>
          </a:prstGeom>
          <a:solidFill>
            <a:srgbClr val="13294B"/>
          </a:solidFill>
          <a:ln/>
        </p:spPr>
        <p:txBody>
          <a:bodyPr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j-lt"/>
              </a:rPr>
              <a:t>RESULTS</a:t>
            </a:r>
          </a:p>
        </p:txBody>
      </p:sp>
      <p:sp>
        <p:nvSpPr>
          <p:cNvPr id="56" name="Text 59">
            <a:extLst>
              <a:ext uri="{FF2B5EF4-FFF2-40B4-BE49-F238E27FC236}">
                <a16:creationId xmlns:a16="http://schemas.microsoft.com/office/drawing/2014/main" id="{256C28E8-DE41-DEC6-B2B2-EFEB45B468D5}"/>
              </a:ext>
            </a:extLst>
          </p:cNvPr>
          <p:cNvSpPr/>
          <p:nvPr/>
        </p:nvSpPr>
        <p:spPr>
          <a:xfrm>
            <a:off x="20302467" y="11675634"/>
            <a:ext cx="10019326" cy="2700175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endParaRPr lang="en-US" sz="2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EBE53B-7821-D962-5773-8FD80F3E2FCA}"/>
              </a:ext>
            </a:extLst>
          </p:cNvPr>
          <p:cNvSpPr txBox="1"/>
          <p:nvPr/>
        </p:nvSpPr>
        <p:spPr>
          <a:xfrm>
            <a:off x="31884482" y="28218157"/>
            <a:ext cx="1163117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 </a:t>
            </a:r>
            <a:br>
              <a:rPr lang="en-US" sz="3600" dirty="0"/>
            </a:br>
            <a:r>
              <a:rPr lang="en-US" sz="3600" dirty="0">
                <a:ea typeface="Source Sans 3"/>
                <a:cs typeface="Arial" panose="020B0604020202020204" pitchFamily="34" charset="0"/>
              </a:rPr>
              <a:t>Classes reflect distinct different risk pathways,</a:t>
            </a:r>
            <a:r>
              <a:rPr lang="en-US" sz="3600" dirty="0"/>
              <a:t> </a:t>
            </a:r>
            <a:r>
              <a:rPr lang="en-US" sz="3600" b="1" dirty="0"/>
              <a:t>supporting the clinical utility of BPF assessment for identifying differential risk among youth with elevated manic symptoms.</a:t>
            </a:r>
            <a:endParaRPr lang="en-US" sz="3600" dirty="0"/>
          </a:p>
        </p:txBody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03404F8B-8B34-99AD-5E30-1D2FF126813B}"/>
              </a:ext>
            </a:extLst>
          </p:cNvPr>
          <p:cNvSpPr/>
          <p:nvPr/>
        </p:nvSpPr>
        <p:spPr>
          <a:xfrm>
            <a:off x="32009216" y="367893"/>
            <a:ext cx="2625950" cy="2578526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3294B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021A6A8-58F6-9FD9-773B-A0978BFFAC38}"/>
              </a:ext>
            </a:extLst>
          </p:cNvPr>
          <p:cNvSpPr txBox="1"/>
          <p:nvPr/>
        </p:nvSpPr>
        <p:spPr>
          <a:xfrm>
            <a:off x="31371161" y="3025434"/>
            <a:ext cx="3902059" cy="820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2800" dirty="0">
                <a:ea typeface="Source Sans 3" pitchFamily="34" charset="-122"/>
                <a:cs typeface="Source Sans 3" pitchFamily="34" charset="-120"/>
              </a:rPr>
              <a:t>Scan for OSF &amp; Supplementary Materials</a:t>
            </a:r>
            <a:endParaRPr lang="en-US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879AFC4-965E-D13E-AB9A-6F285E68A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5330" y="234721"/>
            <a:ext cx="4347344" cy="173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B5021A5-B2F4-598C-93FC-E2F32132C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0140" y="199148"/>
            <a:ext cx="2818532" cy="219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hape 14">
            <a:extLst>
              <a:ext uri="{FF2B5EF4-FFF2-40B4-BE49-F238E27FC236}">
                <a16:creationId xmlns:a16="http://schemas.microsoft.com/office/drawing/2014/main" id="{8F25B6D5-E439-C5AB-1519-A4285A97A8F3}"/>
              </a:ext>
            </a:extLst>
          </p:cNvPr>
          <p:cNvSpPr/>
          <p:nvPr/>
        </p:nvSpPr>
        <p:spPr>
          <a:xfrm>
            <a:off x="338460" y="6681266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1AA52F4F-BEAF-531F-503E-1C9582A345D3}"/>
              </a:ext>
            </a:extLst>
          </p:cNvPr>
          <p:cNvSpPr/>
          <p:nvPr/>
        </p:nvSpPr>
        <p:spPr>
          <a:xfrm>
            <a:off x="416764" y="18682619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9637F-8058-7FFC-199D-44D4FBB4C51A}"/>
              </a:ext>
            </a:extLst>
          </p:cNvPr>
          <p:cNvSpPr txBox="1"/>
          <p:nvPr/>
        </p:nvSpPr>
        <p:spPr>
          <a:xfrm>
            <a:off x="789125" y="18493266"/>
            <a:ext cx="103728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a typeface="Source Sans 3"/>
                <a:cs typeface="Arial" panose="020B0604020202020204" pitchFamily="34" charset="0"/>
              </a:rPr>
              <a:t>Each validator was measured concurrently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 at the youth’s last completed SCID-II assessment.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6647D3-B1D0-CD36-257E-59ED7F5F3113}"/>
              </a:ext>
            </a:extLst>
          </p:cNvPr>
          <p:cNvSpPr txBox="1"/>
          <p:nvPr/>
        </p:nvSpPr>
        <p:spPr>
          <a:xfrm>
            <a:off x="788148" y="19488235"/>
            <a:ext cx="105617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ea typeface="Source Sans 3"/>
                <a:cs typeface="Arial" panose="020B0604020202020204" pitchFamily="34" charset="0"/>
              </a:rPr>
              <a:t>Validators were chosen based on literature describing features common to borderline personality and bipolar disorder.</a:t>
            </a:r>
            <a:r>
              <a:rPr lang="en-US" sz="3200" baseline="30000" dirty="0">
                <a:ea typeface="Source Sans 3" pitchFamily="34" charset="-122"/>
                <a:cs typeface="Arial" panose="020B0604020202020204" pitchFamily="34" charset="0"/>
              </a:rPr>
              <a:t>6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A00903-5E4D-FB05-D537-8DF3FC0232BA}"/>
              </a:ext>
            </a:extLst>
          </p:cNvPr>
          <p:cNvSpPr txBox="1"/>
          <p:nvPr/>
        </p:nvSpPr>
        <p:spPr>
          <a:xfrm>
            <a:off x="179390" y="20519861"/>
            <a:ext cx="112693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ea typeface="Source Sans 3"/>
                <a:cs typeface="Arial" panose="020B0604020202020204" pitchFamily="34" charset="0"/>
              </a:rPr>
              <a:t>Detailed methods summary with full results output available on OSF.</a:t>
            </a: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4110B2FB-7453-2D68-EED8-E69A844C916F}"/>
              </a:ext>
            </a:extLst>
          </p:cNvPr>
          <p:cNvSpPr/>
          <p:nvPr/>
        </p:nvSpPr>
        <p:spPr>
          <a:xfrm>
            <a:off x="416764" y="19692818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C05ADE8-1E6C-C59E-F36B-6E46CBCA494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64" t="1235" r="1905" b="15872"/>
          <a:stretch>
            <a:fillRect/>
          </a:stretch>
        </p:blipFill>
        <p:spPr>
          <a:xfrm>
            <a:off x="30923205" y="8274206"/>
            <a:ext cx="12855688" cy="886426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DC31778-4AAE-31D3-0029-ECA177D5065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7685" t="89684" r="41778" b="2483"/>
          <a:stretch>
            <a:fillRect/>
          </a:stretch>
        </p:blipFill>
        <p:spPr>
          <a:xfrm>
            <a:off x="30853755" y="17208994"/>
            <a:ext cx="3781411" cy="115390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8B51ED8-B0F3-AA4B-1444-B669AAEDAC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8562" t="91404" r="23336" b="2483"/>
          <a:stretch>
            <a:fillRect/>
          </a:stretch>
        </p:blipFill>
        <p:spPr>
          <a:xfrm>
            <a:off x="31045452" y="18404630"/>
            <a:ext cx="3333135" cy="900439"/>
          </a:xfrm>
          <a:prstGeom prst="rect">
            <a:avLst/>
          </a:prstGeom>
        </p:spPr>
      </p:pic>
      <p:sp>
        <p:nvSpPr>
          <p:cNvPr id="32" name="Text 59">
            <a:extLst>
              <a:ext uri="{FF2B5EF4-FFF2-40B4-BE49-F238E27FC236}">
                <a16:creationId xmlns:a16="http://schemas.microsoft.com/office/drawing/2014/main" id="{154C0BDD-1C81-511D-B528-F9B870D3107D}"/>
              </a:ext>
            </a:extLst>
          </p:cNvPr>
          <p:cNvSpPr/>
          <p:nvPr/>
        </p:nvSpPr>
        <p:spPr>
          <a:xfrm>
            <a:off x="34694813" y="17114176"/>
            <a:ext cx="9196387" cy="2087017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r>
              <a:rPr lang="en-US" sz="2800" b="1" dirty="0">
                <a:ea typeface="Archivo" pitchFamily="34" charset="-122"/>
                <a:cs typeface="Archivo" pitchFamily="34" charset="-120"/>
              </a:rPr>
              <a:t>FIGURE 3</a:t>
            </a:r>
            <a:r>
              <a:rPr lang="en-US" sz="2800" dirty="0">
                <a:ea typeface="Archivo" pitchFamily="34" charset="-122"/>
                <a:cs typeface="Archivo" pitchFamily="34" charset="-120"/>
              </a:rPr>
              <a:t>. </a:t>
            </a:r>
            <a:r>
              <a:rPr lang="en-US" sz="2800" i="1" dirty="0">
                <a:ea typeface="Archivo" pitchFamily="34" charset="-122"/>
                <a:cs typeface="Archivo" pitchFamily="34" charset="-120"/>
              </a:rPr>
              <a:t>Pairwise class contrasts across concurrent validators for the five-class model. Class differences were evaluated using BCH-adjusted Wald tests with FDR-corrected pairwise comparisons (cell text). Effect sizes (ω²) reflect magnitude of between-class differences (cell rows).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66AE955-D315-B489-9DF4-ED01DAC5D2A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2974" t="80360" r="26216" b="2190"/>
          <a:stretch>
            <a:fillRect/>
          </a:stretch>
        </p:blipFill>
        <p:spPr>
          <a:xfrm>
            <a:off x="13188991" y="24697520"/>
            <a:ext cx="16167785" cy="5184477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FB44639-60FA-E55F-811E-A1BEE75C01A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927" r="1002"/>
          <a:stretch>
            <a:fillRect/>
          </a:stretch>
        </p:blipFill>
        <p:spPr>
          <a:xfrm>
            <a:off x="-3879" y="26727914"/>
            <a:ext cx="11510666" cy="5715515"/>
          </a:xfrm>
          <a:prstGeom prst="rect">
            <a:avLst/>
          </a:prstGeom>
        </p:spPr>
      </p:pic>
      <p:sp>
        <p:nvSpPr>
          <p:cNvPr id="57" name="Text 59">
            <a:extLst>
              <a:ext uri="{FF2B5EF4-FFF2-40B4-BE49-F238E27FC236}">
                <a16:creationId xmlns:a16="http://schemas.microsoft.com/office/drawing/2014/main" id="{40386BB4-DCD4-EF03-27E7-DB416D863918}"/>
              </a:ext>
            </a:extLst>
          </p:cNvPr>
          <p:cNvSpPr/>
          <p:nvPr/>
        </p:nvSpPr>
        <p:spPr>
          <a:xfrm>
            <a:off x="149544" y="32353507"/>
            <a:ext cx="11262319" cy="749667"/>
          </a:xfrm>
          <a:prstGeom prst="rect">
            <a:avLst/>
          </a:prstGeom>
          <a:noFill/>
          <a:ln/>
        </p:spPr>
        <p:txBody>
          <a:bodyPr wrap="square" lIns="46736" tIns="46736" rIns="46736" bIns="46736" rtlCol="0" anchor="t">
            <a:noAutofit/>
          </a:bodyPr>
          <a:lstStyle/>
          <a:p>
            <a:r>
              <a:rPr lang="en-US" sz="2800" b="1" dirty="0"/>
              <a:t>FIGURE 2. </a:t>
            </a:r>
            <a:r>
              <a:rPr lang="en-US" sz="2800" i="1" dirty="0"/>
              <a:t>NSSI item endorsement (</a:t>
            </a:r>
            <a:r>
              <a:rPr lang="en-US" sz="2800" i="1" dirty="0" err="1"/>
              <a:t>winsorized</a:t>
            </a:r>
            <a:r>
              <a:rPr lang="en-US" sz="2800" i="1" dirty="0"/>
              <a:t>) across classes vs. C1</a:t>
            </a:r>
            <a:endParaRPr lang="en-US" sz="2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C19B8-31BB-54D7-3401-D733CB08A5B0}"/>
              </a:ext>
            </a:extLst>
          </p:cNvPr>
          <p:cNvSpPr txBox="1"/>
          <p:nvPr/>
        </p:nvSpPr>
        <p:spPr>
          <a:xfrm>
            <a:off x="271595" y="22210144"/>
            <a:ext cx="11046266" cy="3362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2000"/>
              </a:lnSpc>
            </a:pPr>
            <a:r>
              <a:rPr lang="en-US" sz="3200" b="1" dirty="0">
                <a:solidFill>
                  <a:srgbClr val="2F6FA6"/>
                </a:solidFill>
              </a:rPr>
              <a:t>Model selection. </a:t>
            </a:r>
            <a:r>
              <a:rPr lang="en-US" sz="3200" dirty="0"/>
              <a:t>Model-selection indices disagreed (BIC/CAIC favored </a:t>
            </a:r>
            <a:r>
              <a:rPr lang="en-US" sz="3200" i="1" dirty="0"/>
              <a:t>K</a:t>
            </a:r>
            <a:r>
              <a:rPr lang="en-US" sz="3200" dirty="0"/>
              <a:t> = 2; </a:t>
            </a:r>
            <a:r>
              <a:rPr lang="en-US" sz="3200" dirty="0" err="1"/>
              <a:t>aBIC</a:t>
            </a:r>
            <a:r>
              <a:rPr lang="en-US" sz="3200" dirty="0"/>
              <a:t> and the bootstrap likelihood ratio test favored 4+ classes); a 5-class solution was chosen as the primary model to balance fit (</a:t>
            </a:r>
            <a:r>
              <a:rPr lang="en-US" sz="3200" dirty="0" err="1"/>
              <a:t>aBIC</a:t>
            </a:r>
            <a:r>
              <a:rPr lang="en-US" sz="3200" dirty="0"/>
              <a:t>-favored) with clinical interpretability (Figure 1).</a:t>
            </a:r>
          </a:p>
          <a:p>
            <a:pPr>
              <a:lnSpc>
                <a:spcPct val="92000"/>
              </a:lnSpc>
            </a:pPr>
            <a:endParaRPr lang="en-US" sz="700" b="1" dirty="0">
              <a:solidFill>
                <a:srgbClr val="2F6FA6"/>
              </a:solidFill>
            </a:endParaRPr>
          </a:p>
          <a:p>
            <a:pPr>
              <a:lnSpc>
                <a:spcPct val="92000"/>
              </a:lnSpc>
            </a:pPr>
            <a:r>
              <a:rPr lang="en-US" sz="3200" b="1" dirty="0">
                <a:solidFill>
                  <a:srgbClr val="2F6FA6"/>
                </a:solidFill>
              </a:rPr>
              <a:t>Self-harm outcomes.</a:t>
            </a:r>
            <a:r>
              <a:rPr lang="en-US" sz="3200" b="1" dirty="0"/>
              <a:t> </a:t>
            </a:r>
            <a:r>
              <a:rPr lang="en-US" sz="3200" b="1" dirty="0">
                <a:ea typeface="Source Sans 3"/>
                <a:cs typeface="Arial" panose="020B0604020202020204" pitchFamily="34" charset="0"/>
              </a:rPr>
              <a:t>Non-suicidal self-injury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was assessed in a subsample (</a:t>
            </a:r>
            <a:r>
              <a:rPr lang="en-US" sz="3200" i="1" dirty="0">
                <a:ea typeface="Source Sans 3"/>
                <a:cs typeface="Arial" panose="020B0604020202020204" pitchFamily="34" charset="0"/>
              </a:rPr>
              <a:t>n </a:t>
            </a:r>
            <a:r>
              <a:rPr lang="en-US" sz="3200" dirty="0">
                <a:ea typeface="Source Sans 3"/>
                <a:cs typeface="Arial" panose="020B0604020202020204" pitchFamily="34" charset="0"/>
              </a:rPr>
              <a:t>= 310) that completed the Youth Risk Behavior Survey (Figure 2).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1D7F83-707B-4E1E-237F-147C9BE31F45}"/>
              </a:ext>
            </a:extLst>
          </p:cNvPr>
          <p:cNvSpPr txBox="1"/>
          <p:nvPr/>
        </p:nvSpPr>
        <p:spPr>
          <a:xfrm>
            <a:off x="31130852" y="5184031"/>
            <a:ext cx="12684821" cy="2017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2000"/>
              </a:lnSpc>
            </a:pPr>
            <a:r>
              <a:rPr lang="en-US" sz="3200" b="1" dirty="0">
                <a:solidFill>
                  <a:srgbClr val="2F6FA6"/>
                </a:solidFill>
              </a:rPr>
              <a:t>Concurrent validators.</a:t>
            </a:r>
            <a:r>
              <a:rPr lang="en-US" sz="3200" b="1" dirty="0"/>
              <a:t> </a:t>
            </a:r>
            <a:r>
              <a:rPr lang="en-US" sz="3200" dirty="0"/>
              <a:t>Classes differed significantly across all validators besides state mania (Figure 3).</a:t>
            </a:r>
          </a:p>
          <a:p>
            <a:pPr>
              <a:lnSpc>
                <a:spcPct val="92000"/>
              </a:lnSpc>
            </a:pPr>
            <a:endParaRPr lang="en-US" sz="3200" dirty="0"/>
          </a:p>
          <a:p>
            <a:pPr>
              <a:lnSpc>
                <a:spcPct val="92000"/>
              </a:lnSpc>
            </a:pPr>
            <a:r>
              <a:rPr lang="en-US" sz="800" dirty="0"/>
              <a:t> </a:t>
            </a:r>
          </a:p>
          <a:p>
            <a:pPr>
              <a:lnSpc>
                <a:spcPct val="92000"/>
              </a:lnSpc>
            </a:pPr>
            <a:r>
              <a:rPr lang="en-US" sz="3200" dirty="0"/>
              <a:t>Classes also differed on sex distribution (Figure 4; χ²</a:t>
            </a:r>
            <a:r>
              <a:rPr lang="en-US" sz="3200" i="1" dirty="0"/>
              <a:t> </a:t>
            </a:r>
            <a:r>
              <a:rPr lang="en-US" sz="3200" dirty="0"/>
              <a:t>= 36.4, </a:t>
            </a:r>
            <a:r>
              <a:rPr lang="en-US" sz="3200" i="1" dirty="0"/>
              <a:t>p</a:t>
            </a:r>
            <a:r>
              <a:rPr lang="en-US" sz="3200" dirty="0"/>
              <a:t> &lt; .001).</a:t>
            </a:r>
            <a:endParaRPr lang="en-US" sz="3200" b="1" dirty="0">
              <a:solidFill>
                <a:srgbClr val="2F6FA6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1DE8F5-24EE-B5DF-CD65-CBC12276730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945"/>
          <a:stretch>
            <a:fillRect/>
          </a:stretch>
        </p:blipFill>
        <p:spPr>
          <a:xfrm>
            <a:off x="31007577" y="19218258"/>
            <a:ext cx="12682531" cy="637218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35E5D52-5A50-0947-93CD-567331FE4B62}"/>
              </a:ext>
            </a:extLst>
          </p:cNvPr>
          <p:cNvSpPr txBox="1"/>
          <p:nvPr/>
        </p:nvSpPr>
        <p:spPr>
          <a:xfrm>
            <a:off x="30897805" y="25409017"/>
            <a:ext cx="13030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FIGURE 4. </a:t>
            </a:r>
            <a:r>
              <a:rPr lang="en-US" sz="2800" i="1" dirty="0"/>
              <a:t>% female by class vs. % female at sample baseline (32%, dashed line; 95% CIs)</a:t>
            </a:r>
            <a:endParaRPr lang="en-US" sz="28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225FC2B1-10A0-20CD-C250-C476C0767CA3}"/>
              </a:ext>
            </a:extLst>
          </p:cNvPr>
          <p:cNvSpPr/>
          <p:nvPr/>
        </p:nvSpPr>
        <p:spPr>
          <a:xfrm>
            <a:off x="31459873" y="27490506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088488-411A-FF71-ED6A-B829AA251745}"/>
              </a:ext>
            </a:extLst>
          </p:cNvPr>
          <p:cNvSpPr txBox="1"/>
          <p:nvPr/>
        </p:nvSpPr>
        <p:spPr>
          <a:xfrm>
            <a:off x="31881911" y="27276545"/>
            <a:ext cx="10967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C1 (Minimal Features) was distinguishable from </a:t>
            </a:r>
            <a:r>
              <a:rPr lang="en-US" sz="3600" b="1" dirty="0"/>
              <a:t>every class </a:t>
            </a:r>
            <a:r>
              <a:rPr lang="en-US" sz="3600" dirty="0"/>
              <a:t>on concurrent NSSI frequency and sex.</a:t>
            </a: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F9B8E723-A94B-B954-9F93-1D12F4A7D3F4}"/>
              </a:ext>
            </a:extLst>
          </p:cNvPr>
          <p:cNvSpPr/>
          <p:nvPr/>
        </p:nvSpPr>
        <p:spPr>
          <a:xfrm>
            <a:off x="31459873" y="28570805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5243BCA3-388C-C4DF-1B24-5B3C0487E95B}"/>
              </a:ext>
            </a:extLst>
          </p:cNvPr>
          <p:cNvSpPr/>
          <p:nvPr/>
        </p:nvSpPr>
        <p:spPr>
          <a:xfrm>
            <a:off x="583824" y="25732972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CADF4E-3EAD-BB19-EC2C-B76E832D689C}"/>
              </a:ext>
            </a:extLst>
          </p:cNvPr>
          <p:cNvSpPr txBox="1"/>
          <p:nvPr/>
        </p:nvSpPr>
        <p:spPr>
          <a:xfrm>
            <a:off x="956185" y="25543619"/>
            <a:ext cx="99831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ea typeface="Source Sans 3"/>
                <a:cs typeface="Arial" panose="020B0604020202020204" pitchFamily="34" charset="0"/>
              </a:rPr>
              <a:t>C</a:t>
            </a:r>
            <a:r>
              <a:rPr lang="en-US" sz="3200" dirty="0"/>
              <a:t>lasses differentiated NSSI on a </a:t>
            </a:r>
            <a:r>
              <a:rPr lang="en-US" sz="3200" dirty="0" err="1"/>
              <a:t>winsorized</a:t>
            </a:r>
            <a:r>
              <a:rPr lang="en-US" sz="3200" dirty="0"/>
              <a:t> frequency count (ω² = .17)</a:t>
            </a:r>
            <a:endParaRPr lang="en-US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A6B7AB38-42D8-2554-80CC-8CA7B8E0B5DC}"/>
              </a:ext>
            </a:extLst>
          </p:cNvPr>
          <p:cNvSpPr/>
          <p:nvPr/>
        </p:nvSpPr>
        <p:spPr>
          <a:xfrm>
            <a:off x="31552923" y="6268350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A476A2-67E2-2B00-5C77-363C9960DA53}"/>
              </a:ext>
            </a:extLst>
          </p:cNvPr>
          <p:cNvSpPr txBox="1"/>
          <p:nvPr/>
        </p:nvSpPr>
        <p:spPr>
          <a:xfrm>
            <a:off x="31884482" y="6106196"/>
            <a:ext cx="12006718" cy="545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2000"/>
              </a:lnSpc>
            </a:pPr>
            <a:r>
              <a:rPr lang="en-US" sz="3200" dirty="0"/>
              <a:t>C2 was consistently elevated on aggression, impulsivity, and irritability</a:t>
            </a:r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8E20B31A-5788-2275-117E-FFAF421150E7}"/>
              </a:ext>
            </a:extLst>
          </p:cNvPr>
          <p:cNvSpPr/>
          <p:nvPr/>
        </p:nvSpPr>
        <p:spPr>
          <a:xfrm>
            <a:off x="31554472" y="7253780"/>
            <a:ext cx="245364" cy="245364"/>
          </a:xfrm>
          <a:prstGeom prst="ellipse">
            <a:avLst/>
          </a:prstGeom>
          <a:solidFill>
            <a:srgbClr val="4B9CD3"/>
          </a:solidFill>
          <a:ln/>
        </p:spPr>
        <p:txBody>
          <a:bodyPr/>
          <a:lstStyle/>
          <a:p>
            <a:endParaRPr lang="en-US" sz="635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C71173-2F00-1A0E-277E-0471F68C63C5}"/>
              </a:ext>
            </a:extLst>
          </p:cNvPr>
          <p:cNvSpPr txBox="1"/>
          <p:nvPr/>
        </p:nvSpPr>
        <p:spPr>
          <a:xfrm>
            <a:off x="31881911" y="7092320"/>
            <a:ext cx="11602288" cy="99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2000"/>
              </a:lnSpc>
            </a:pPr>
            <a:r>
              <a:rPr lang="en-US" sz="3200" dirty="0"/>
              <a:t>C1 was more male than entry sample (20.5% female), while C2 and C4 trend more female (44.8%, 51.1%, male 50.0%)</a:t>
            </a:r>
            <a:endParaRPr lang="en-US" sz="3200" b="1" dirty="0">
              <a:solidFill>
                <a:srgbClr val="2F6FA6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F66BB23-A3E7-C7B8-E2DC-2FD94946AF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05461" y="434568"/>
            <a:ext cx="2446408" cy="2446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4005</TotalTime>
  <Words>802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Archivo</vt:lpstr>
      <vt:lpstr>Arial</vt:lpstr>
      <vt:lpstr>Calibri</vt:lpstr>
      <vt:lpstr>Calibri Light</vt:lpstr>
      <vt:lpstr>Source Sans 3</vt:lpstr>
      <vt:lpstr>Office 2013 - 2022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Meyers, Maggie</cp:lastModifiedBy>
  <cp:revision>39</cp:revision>
  <cp:lastPrinted>2026-07-27T15:28:28Z</cp:lastPrinted>
  <dcterms:created xsi:type="dcterms:W3CDTF">2026-07-15T16:31:14Z</dcterms:created>
  <dcterms:modified xsi:type="dcterms:W3CDTF">2026-07-31T12:02:41Z</dcterms:modified>
</cp:coreProperties>
</file>